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AAPL — Apple Inc. — Fundamental Analysis Report (Annual 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2026-03-23 12:53:10Z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Moderate cash conversion (CF/NI = 1.00), gap likely driven by working capital movements.</a:t>
            </a:r>
          </a:p>
          <a:p>
            <a:pPr algn="l">
              <a:defRPr sz="3000"/>
            </a:pPr>
            <a:r>
              <a:t>Profitability - ROE 151.9% | ROA 31.2% | Net margin 26.9%</a:t>
            </a:r>
          </a:p>
          <a:p>
            <a:pPr algn="l">
              <a:defRPr sz="3000"/>
            </a:pPr>
            <a:r>
              <a:t>Liquidity - Current ratio 0.89 | Cash ratio 0.33</a:t>
            </a:r>
          </a:p>
          <a:p>
            <a:pPr algn="l">
              <a:defRPr sz="3000"/>
            </a:pPr>
            <a:r>
              <a:t>Leverage - D/E 1.34 | Net debt $43.96B</a:t>
            </a:r>
          </a:p>
          <a:p>
            <a:pPr algn="l">
              <a:defRPr sz="3000"/>
            </a:pPr>
            <a:r>
              <a:t>Free cash flow: $98.77B (real, after $12.71B capex)</a:t>
            </a:r>
          </a:p>
          <a:p>
            <a:pPr algn="l">
              <a:defRPr sz="3000"/>
            </a:pPr>
            <a:r>
              <a:t>DCF Valuation: Intrinsic value $98.30/share vs current $247.99 (overvalued by 60.4%)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GrossProfit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$195.20B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GrossMargin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31.2%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151.9%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CurrentRatio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DebtToEquity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$43.96B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CashRatio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FCF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$98.77B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CashflowReliability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32.5×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EV_EBITDA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25.5×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NetDebt_EBITDA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DCF 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WACC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IntrinsicValue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$98.30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Upside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-60.4%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Forecast</a:t>
            </a:r>
          </a:p>
        </p:txBody>
      </p:sp>
      <p:pic>
        <p:nvPicPr>
          <p:cNvPr id="3" name="Picture 2" descr="revenu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Ratios</a:t>
            </a:r>
          </a:p>
        </p:txBody>
      </p:sp>
      <p:pic>
        <p:nvPicPr>
          <p:cNvPr id="3" name="Picture 2" descr="key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</a:t>
            </a:r>
          </a:p>
        </p:txBody>
      </p:sp>
      <p:pic>
        <p:nvPicPr>
          <p:cNvPr id="3" name="Picture 2" descr="cas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