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000333.SZ — Midea Group Co., Ltd. — Fundamental Analysis Report (Annual 2024)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2026-03-23 12:53:18Z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cash conversion: OCF is 1.57× net income.</a:t>
            </a:r>
          </a:p>
          <a:p>
            <a:pPr algn="l">
              <a:defRPr sz="3000"/>
            </a:pPr>
            <a:r>
              <a:t>Profitability - ROE 17.8% | ROA 6.4% | Net margin 9.4%</a:t>
            </a:r>
          </a:p>
          <a:p>
            <a:pPr algn="l">
              <a:defRPr sz="3000"/>
            </a:pPr>
            <a:r>
              <a:t>Liquidity - Current ratio 1.11 | Cash ratio 0.42</a:t>
            </a:r>
          </a:p>
          <a:p>
            <a:pPr algn="l">
              <a:defRPr sz="3000"/>
            </a:pPr>
            <a:r>
              <a:t>Leverage - D/E 0.40 | Net debt -$8.87B</a:t>
            </a:r>
          </a:p>
          <a:p>
            <a:pPr algn="l">
              <a:defRPr sz="3000"/>
            </a:pPr>
            <a:r>
              <a:t>Free cash flow: $7.64B (real, after $1.14B capex)</a:t>
            </a:r>
          </a:p>
          <a:p>
            <a:pPr algn="l">
              <a:defRPr sz="3000"/>
            </a:pPr>
            <a:r>
              <a:t>DCF Valuation: Intrinsic value $28.31/share vs current $10.65 (undervalued by 165.8%)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GrossProfit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$15.89B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GrossMargin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CurrentRatio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DebtToEquity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-$8.87B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CashRatio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FCF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$7.64B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CashflowReliability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14.5×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EV_EBITDA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8.7×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NetDebt_EBITDA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-1.07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DCF 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WACC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IntrinsicValue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$28.31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Upside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165.8%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Forecast</a:t>
            </a:r>
          </a:p>
        </p:txBody>
      </p:sp>
      <p:pic>
        <p:nvPicPr>
          <p:cNvPr id="3" name="Picture 2" descr="revenue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Ratios</a:t>
            </a:r>
          </a:p>
        </p:txBody>
      </p:sp>
      <p:pic>
        <p:nvPicPr>
          <p:cNvPr id="3" name="Picture 2" descr="key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Flow</a:t>
            </a:r>
          </a:p>
        </p:txBody>
      </p:sp>
      <p:pic>
        <p:nvPicPr>
          <p:cNvPr id="3" name="Picture 2" descr="cas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