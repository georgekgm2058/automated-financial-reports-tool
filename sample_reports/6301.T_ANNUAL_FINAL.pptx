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6301.T — Komatsu Ltd. — Fundamental Analysis Report (Annual 2025)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2026-03-23 12:53:14Z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OCF exceeds net income (1.18×).</a:t>
            </a:r>
          </a:p>
          <a:p>
            <a:pPr algn="l">
              <a:defRPr sz="3000"/>
            </a:pPr>
            <a:r>
              <a:t>Profitability - ROE 13.9% | ROA 7.6% | Net margin 10.7%</a:t>
            </a:r>
          </a:p>
          <a:p>
            <a:pPr algn="l">
              <a:defRPr sz="3000"/>
            </a:pPr>
            <a:r>
              <a:t>Liquidity - Current ratio 2.00 | Cash ratio 0.23</a:t>
            </a:r>
          </a:p>
          <a:p>
            <a:pPr algn="l">
              <a:defRPr sz="3000"/>
            </a:pPr>
            <a:r>
              <a:t>Leverage - D/E 0.38 | Net debt $5.27B</a:t>
            </a:r>
          </a:p>
          <a:p>
            <a:pPr algn="l">
              <a:defRPr sz="3000"/>
            </a:pPr>
            <a:r>
              <a:t>Free cash flow: $1.96B (real, after $1.30B capex)</a:t>
            </a:r>
          </a:p>
          <a:p>
            <a:pPr algn="l">
              <a:defRPr sz="3000"/>
            </a:pPr>
            <a:r>
              <a:t>DCF Valuation: Intrinsic value $60.11/share vs current $37.51 (undervalued by 60.2%)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GrossProfit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$8.34B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GrossMargin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32.2%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NetMargin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10.7%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ROE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13.9%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CurrentRatio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DebtToEquity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NetDebt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$5.27B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CashRatio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FCF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$1.96B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CashflowReliability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12.2×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EV_EBITDA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7.5×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NetDebt_EBITDA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DCF Valuation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80808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WACC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IntrinsicValue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$60.11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Upside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Forecast</a:t>
            </a:r>
          </a:p>
        </p:txBody>
      </p:sp>
      <p:pic>
        <p:nvPicPr>
          <p:cNvPr id="3" name="Picture 2" descr="revenue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2009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Ratios</a:t>
            </a:r>
          </a:p>
        </p:txBody>
      </p:sp>
      <p:pic>
        <p:nvPicPr>
          <p:cNvPr id="3" name="Picture 2" descr="key_rat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2009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Cash Flow</a:t>
            </a:r>
          </a:p>
        </p:txBody>
      </p:sp>
      <p:pic>
        <p:nvPicPr>
          <p:cNvPr id="3" name="Picture 2" descr="cas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2009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