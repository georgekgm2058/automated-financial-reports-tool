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SAP.DE — SAP SE — Fundamental Analysis Report (TTM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2026-03-23 12:16:09Z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OCF exceeds net income (1.28×).</a:t>
            </a:r>
          </a:p>
          <a:p>
            <a:pPr algn="l">
              <a:defRPr sz="3000"/>
            </a:pPr>
            <a:r>
              <a:t>Profitability - ROE 16.1% | ROA 10.2% | Net margin 19.5%</a:t>
            </a:r>
          </a:p>
          <a:p>
            <a:pPr algn="l">
              <a:defRPr sz="3000"/>
            </a:pPr>
            <a:r>
              <a:t>Liquidity - Current ratio 1.16 | Cash ratio 0.56</a:t>
            </a:r>
          </a:p>
          <a:p>
            <a:pPr algn="l">
              <a:defRPr sz="3000"/>
            </a:pPr>
            <a:r>
              <a:t>Leverage - D/E 0.17 | Net debt -$2.65B</a:t>
            </a:r>
          </a:p>
          <a:p>
            <a:pPr algn="l">
              <a:defRPr sz="3000"/>
            </a:pPr>
            <a:r>
              <a:t>Free cash flow: $9.73B (real, after $854.34M capex)</a:t>
            </a:r>
          </a:p>
          <a:p>
            <a:pPr algn="l">
              <a:defRPr sz="3000"/>
            </a:pPr>
            <a:r>
              <a:t>DCF Valuation: Intrinsic value $235.78/share vs current $179.65 (undervalued by 31.2%)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$31.00B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72.9%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CurrentRatio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DebtToEquity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-$2.65B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$9.73B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CashflowReliability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25.3×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EV_EBITDA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14.8×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DCF 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WACC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IntrinsicValue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$235.78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</a:t>
            </a:r>
          </a:p>
        </p:txBody>
      </p:sp>
      <p:pic>
        <p:nvPicPr>
          <p:cNvPr id="3" name="Picture 2" descr="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Ratios</a:t>
            </a:r>
          </a:p>
        </p:txBody>
      </p:sp>
      <p:pic>
        <p:nvPicPr>
          <p:cNvPr id="3" name="Picture 2" descr="key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</a:t>
            </a:r>
          </a:p>
        </p:txBody>
      </p:sp>
      <p:pic>
        <p:nvPicPr>
          <p:cNvPr id="3" name="Picture 2" descr="cas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